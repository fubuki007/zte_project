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658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930149-E5F5-4C30-8A5B-B2ABD8D3F031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501C4C-A5E2-47D3-A14B-1DD7212210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9226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501C4C-A5E2-47D3-A14B-1DD72122103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9724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</a:rPr>
              <a:t>神经网络数字预失真(NN-DPD) 离线训练示例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 err="1">
                <a:solidFill>
                  <a:srgbClr val="555555"/>
                </a:solidFill>
                <a:latin typeface="微软雅黑"/>
              </a:rPr>
              <a:t>来源：MathWorks</a:t>
            </a:r>
            <a:r>
              <a:rPr sz="1400" dirty="0">
                <a:solidFill>
                  <a:srgbClr val="555555"/>
                </a:solidFill>
                <a:latin typeface="微软雅黑"/>
              </a:rPr>
              <a:t> </a:t>
            </a:r>
            <a:r>
              <a:rPr sz="1400" dirty="0" err="1">
                <a:solidFill>
                  <a:srgbClr val="555555"/>
                </a:solidFill>
                <a:latin typeface="微软雅黑"/>
              </a:rPr>
              <a:t>官方示例</a:t>
            </a:r>
            <a:r>
              <a:rPr sz="1400" dirty="0">
                <a:solidFill>
                  <a:srgbClr val="555555"/>
                </a:solidFill>
                <a:latin typeface="微软雅黑"/>
              </a:rPr>
              <a:t> Neural Network for Digital Predistortion Design - Offline Training</a:t>
            </a:r>
          </a:p>
          <a:p>
            <a:r>
              <a:rPr sz="1400" dirty="0" err="1">
                <a:solidFill>
                  <a:srgbClr val="555555"/>
                </a:solidFill>
                <a:latin typeface="微软雅黑"/>
              </a:rPr>
              <a:t>文献基础</a:t>
            </a:r>
            <a:r>
              <a:rPr sz="1400" dirty="0">
                <a:solidFill>
                  <a:srgbClr val="555555"/>
                </a:solidFill>
                <a:latin typeface="微软雅黑"/>
              </a:rPr>
              <a:t>：[1] Indirect Learning, ISWCS 2008  ·  [2] ARVTDNN, IEEE TNNLS 2019</a:t>
            </a:r>
          </a:p>
          <a:p>
            <a:r>
              <a:rPr sz="1400" dirty="0" err="1">
                <a:solidFill>
                  <a:srgbClr val="555555"/>
                </a:solidFill>
                <a:latin typeface="微软雅黑"/>
              </a:rPr>
              <a:t>汇报用途：说明图的数据来源、网络结构、训练流程与指标对比</a:t>
            </a:r>
            <a:endParaRPr sz="1400" dirty="0">
              <a:solidFill>
                <a:srgbClr val="555555"/>
              </a:solidFill>
              <a:latin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微软雅黑"/>
              </a:rPr>
              <a:t>ZTE 项目 · DPD 专题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9678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/>
              </a:rPr>
              <a:t>这张图展示了什么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" y="1371951"/>
            <a:ext cx="5260258" cy="6127447"/>
          </a:xfrm>
          <a:prstGeom prst="rect">
            <a:avLst/>
          </a:prstGeom>
          <a:noFill/>
        </p:spPr>
        <p:txBody>
          <a:bodyPr wrap="square" lIns="76200" tIns="76200" rIns="76200" bIns="762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 dirty="0">
                <a:solidFill>
                  <a:srgbClr val="222222"/>
                </a:solidFill>
                <a:latin typeface="微软雅黑"/>
              </a:rPr>
              <a:t>• 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横轴：频率（基带归一化，单位</a:t>
            </a:r>
            <a:r>
              <a:rPr sz="1800" dirty="0">
                <a:solidFill>
                  <a:srgbClr val="222222"/>
                </a:solidFill>
                <a:latin typeface="微软雅黑"/>
              </a:rPr>
              <a:t> GHz 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等价刻度；实际采样率</a:t>
            </a:r>
            <a:r>
              <a:rPr sz="1800" dirty="0">
                <a:solidFill>
                  <a:srgbClr val="222222"/>
                </a:solidFill>
                <a:latin typeface="微软雅黑"/>
              </a:rPr>
              <a:t> 614.4 MHz）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 dirty="0">
                <a:solidFill>
                  <a:srgbClr val="222222"/>
                </a:solidFill>
                <a:latin typeface="微软雅黑"/>
              </a:rPr>
              <a:t>• 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纵轴：功率谱密度</a:t>
            </a:r>
            <a:r>
              <a:rPr sz="1800" dirty="0">
                <a:solidFill>
                  <a:srgbClr val="222222"/>
                </a:solidFill>
                <a:latin typeface="微软雅黑"/>
              </a:rPr>
              <a:t>(dBm)，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spectrumAnalyzer</a:t>
            </a:r>
            <a:r>
              <a:rPr sz="1800" dirty="0">
                <a:solidFill>
                  <a:srgbClr val="222222"/>
                </a:solidFill>
                <a:latin typeface="微软雅黑"/>
              </a:rPr>
              <a:t> 做 16 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次谱平均得到平滑曲线</a:t>
            </a:r>
            <a:endParaRPr sz="1800" dirty="0">
              <a:solidFill>
                <a:srgbClr val="222222"/>
              </a:solidFill>
              <a:latin typeface="微软雅黑"/>
            </a:endParaRP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 dirty="0">
                <a:solidFill>
                  <a:srgbClr val="222222"/>
                </a:solidFill>
                <a:latin typeface="微软雅黑"/>
              </a:rPr>
              <a:t>• 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三条曲线</a:t>
            </a:r>
            <a:r>
              <a:rPr sz="1800" dirty="0">
                <a:solidFill>
                  <a:srgbClr val="222222"/>
                </a:solidFill>
                <a:latin typeface="微软雅黑"/>
              </a:rPr>
              <a:t> = 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同一段</a:t>
            </a:r>
            <a:r>
              <a:rPr sz="1800" dirty="0">
                <a:solidFill>
                  <a:srgbClr val="222222"/>
                </a:solidFill>
                <a:latin typeface="微软雅黑"/>
              </a:rPr>
              <a:t> 100 MHz OFDM 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信号在三种</a:t>
            </a:r>
            <a:r>
              <a:rPr sz="1800" dirty="0">
                <a:solidFill>
                  <a:srgbClr val="222222"/>
                </a:solidFill>
                <a:latin typeface="微软雅黑"/>
              </a:rPr>
              <a:t> DPD 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方案下通过</a:t>
            </a:r>
            <a:r>
              <a:rPr sz="1800" dirty="0">
                <a:solidFill>
                  <a:srgbClr val="222222"/>
                </a:solidFill>
                <a:latin typeface="微软雅黑"/>
              </a:rPr>
              <a:t> PA 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后的输出频谱</a:t>
            </a:r>
            <a:endParaRPr sz="1800" dirty="0">
              <a:solidFill>
                <a:srgbClr val="222222"/>
              </a:solidFill>
              <a:latin typeface="微软雅黑"/>
            </a:endParaRPr>
          </a:p>
          <a:p>
            <a:pPr lvl="1">
              <a:lnSpc>
                <a:spcPct val="125000"/>
              </a:lnSpc>
              <a:spcAft>
                <a:spcPts val="400"/>
              </a:spcAft>
            </a:pPr>
            <a:r>
              <a:rPr sz="1600" dirty="0">
                <a:solidFill>
                  <a:srgbClr val="555555"/>
                </a:solidFill>
                <a:latin typeface="微软雅黑"/>
              </a:rPr>
              <a:t>–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蓝色</a:t>
            </a:r>
            <a:r>
              <a:rPr sz="1600" dirty="0">
                <a:solidFill>
                  <a:srgbClr val="555555"/>
                </a:solidFill>
                <a:latin typeface="微软雅黑"/>
              </a:rPr>
              <a:t> No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DPD：信号直接送</a:t>
            </a:r>
            <a:r>
              <a:rPr sz="1600" dirty="0">
                <a:solidFill>
                  <a:srgbClr val="555555"/>
                </a:solidFill>
                <a:latin typeface="微软雅黑"/>
              </a:rPr>
              <a:t>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PA，暴露</a:t>
            </a:r>
            <a:r>
              <a:rPr sz="1600" dirty="0">
                <a:solidFill>
                  <a:srgbClr val="555555"/>
                </a:solidFill>
                <a:latin typeface="微软雅黑"/>
              </a:rPr>
              <a:t> PA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非线性</a:t>
            </a:r>
            <a:endParaRPr sz="1600" dirty="0">
              <a:solidFill>
                <a:srgbClr val="555555"/>
              </a:solidFill>
              <a:latin typeface="微软雅黑"/>
            </a:endParaRPr>
          </a:p>
          <a:p>
            <a:pPr lvl="1">
              <a:lnSpc>
                <a:spcPct val="125000"/>
              </a:lnSpc>
              <a:spcAft>
                <a:spcPts val="400"/>
              </a:spcAft>
            </a:pPr>
            <a:r>
              <a:rPr sz="1600" dirty="0">
                <a:solidFill>
                  <a:srgbClr val="555555"/>
                </a:solidFill>
                <a:latin typeface="微软雅黑"/>
              </a:rPr>
              <a:t>–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橙色</a:t>
            </a:r>
            <a:r>
              <a:rPr sz="1600" dirty="0">
                <a:solidFill>
                  <a:srgbClr val="555555"/>
                </a:solidFill>
                <a:latin typeface="微软雅黑"/>
              </a:rPr>
              <a:t> Memory Polynomial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DPD：传统交叉项记忆多项式预失真</a:t>
            </a:r>
            <a:endParaRPr sz="1600" dirty="0">
              <a:solidFill>
                <a:srgbClr val="555555"/>
              </a:solidFill>
              <a:latin typeface="微软雅黑"/>
            </a:endParaRPr>
          </a:p>
          <a:p>
            <a:pPr lvl="1">
              <a:lnSpc>
                <a:spcPct val="125000"/>
              </a:lnSpc>
              <a:spcAft>
                <a:spcPts val="400"/>
              </a:spcAft>
            </a:pPr>
            <a:r>
              <a:rPr sz="1600" dirty="0">
                <a:solidFill>
                  <a:srgbClr val="555555"/>
                </a:solidFill>
                <a:latin typeface="微软雅黑"/>
              </a:rPr>
              <a:t>–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黄色</a:t>
            </a:r>
            <a:r>
              <a:rPr sz="1600" dirty="0">
                <a:solidFill>
                  <a:srgbClr val="555555"/>
                </a:solidFill>
                <a:latin typeface="微软雅黑"/>
              </a:rPr>
              <a:t> Neural Network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DPD：训练好的神经网络预失真</a:t>
            </a:r>
            <a:endParaRPr sz="1600" dirty="0">
              <a:solidFill>
                <a:srgbClr val="555555"/>
              </a:solidFill>
              <a:latin typeface="微软雅黑"/>
            </a:endParaRP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 dirty="0">
                <a:solidFill>
                  <a:srgbClr val="222222"/>
                </a:solidFill>
                <a:latin typeface="微软雅黑"/>
              </a:rPr>
              <a:t>• </a:t>
            </a:r>
            <a:r>
              <a:rPr lang="zh-CN" altLang="en-US" dirty="0">
                <a:solidFill>
                  <a:srgbClr val="222222"/>
                </a:solidFill>
                <a:latin typeface="微软雅黑"/>
              </a:rPr>
              <a:t>重点</a:t>
            </a:r>
            <a:r>
              <a:rPr sz="1800" dirty="0">
                <a:solidFill>
                  <a:srgbClr val="222222"/>
                </a:solidFill>
                <a:latin typeface="微软雅黑"/>
              </a:rPr>
              <a:t>：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主瓣两侧的「带外频谱再生</a:t>
            </a:r>
            <a:r>
              <a:rPr sz="1800" dirty="0">
                <a:solidFill>
                  <a:srgbClr val="222222"/>
                </a:solidFill>
                <a:latin typeface="微软雅黑"/>
              </a:rPr>
              <a:t> (spectral regrowth)」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越低越好</a:t>
            </a:r>
            <a:endParaRPr sz="1800" dirty="0">
              <a:solidFill>
                <a:srgbClr val="222222"/>
              </a:solidFill>
              <a:latin typeface="微软雅黑"/>
            </a:endParaRPr>
          </a:p>
          <a:p>
            <a:pPr lvl="1">
              <a:lnSpc>
                <a:spcPct val="125000"/>
              </a:lnSpc>
              <a:spcAft>
                <a:spcPts val="400"/>
              </a:spcAft>
            </a:pPr>
            <a:r>
              <a:rPr sz="1600" dirty="0">
                <a:solidFill>
                  <a:srgbClr val="555555"/>
                </a:solidFill>
                <a:latin typeface="微软雅黑"/>
              </a:rPr>
              <a:t>– 蓝 → 橙 → 黄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肩部逐级压低，NN-DPD</a:t>
            </a:r>
            <a:r>
              <a:rPr sz="1600" dirty="0">
                <a:solidFill>
                  <a:srgbClr val="555555"/>
                </a:solidFill>
                <a:latin typeface="微软雅黑"/>
              </a:rPr>
              <a:t>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抑制带外泄漏最明显</a:t>
            </a:r>
            <a:endParaRPr lang="en-US" sz="1600" dirty="0">
              <a:solidFill>
                <a:srgbClr val="555555"/>
              </a:solidFill>
              <a:latin typeface="微软雅黑"/>
            </a:endParaRPr>
          </a:p>
          <a:p>
            <a:pPr lvl="1">
              <a:lnSpc>
                <a:spcPct val="125000"/>
              </a:lnSpc>
              <a:spcAft>
                <a:spcPts val="400"/>
              </a:spcAft>
            </a:pPr>
            <a:endParaRPr lang="en-US" sz="1600" dirty="0">
              <a:solidFill>
                <a:srgbClr val="555555"/>
              </a:solidFill>
              <a:latin typeface="微软雅黑"/>
            </a:endParaRPr>
          </a:p>
          <a:p>
            <a:pPr lvl="1">
              <a:lnSpc>
                <a:spcPct val="125000"/>
              </a:lnSpc>
              <a:spcAft>
                <a:spcPts val="400"/>
              </a:spcAft>
            </a:pPr>
            <a:endParaRPr sz="1600" dirty="0">
              <a:solidFill>
                <a:srgbClr val="55555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微软雅黑"/>
              </a:rPr>
              <a:t>NN-DPD 离线训练 · 汇报材料</a:t>
            </a:r>
          </a:p>
        </p:txBody>
      </p:sp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0953F800-41FE-EE5A-061E-BEF2D65F8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259" y="778309"/>
            <a:ext cx="7349460" cy="57596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5642507" cy="4616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000" b="1" dirty="0" err="1">
                <a:solidFill>
                  <a:srgbClr val="1F4E79"/>
                </a:solidFill>
                <a:latin typeface="微软雅黑"/>
              </a:rPr>
              <a:t>整体工作流：间接学习法</a:t>
            </a:r>
            <a:r>
              <a:rPr lang="zh-CN" altLang="en-US" sz="3000" b="1" dirty="0">
                <a:solidFill>
                  <a:srgbClr val="1F4E79"/>
                </a:solidFill>
                <a:latin typeface="微软雅黑"/>
              </a:rPr>
              <a:t>（</a:t>
            </a:r>
            <a:r>
              <a:rPr lang="en-US" altLang="zh-CN" sz="3000" b="1" dirty="0">
                <a:solidFill>
                  <a:srgbClr val="1F4E79"/>
                </a:solidFill>
                <a:latin typeface="微软雅黑"/>
              </a:rPr>
              <a:t>ILA</a:t>
            </a:r>
            <a:r>
              <a:rPr lang="zh-CN" altLang="en-US" sz="3000" b="1" dirty="0">
                <a:solidFill>
                  <a:srgbClr val="1F4E79"/>
                </a:solidFill>
                <a:latin typeface="微软雅黑"/>
              </a:rPr>
              <a:t>）</a:t>
            </a:r>
            <a:endParaRPr sz="3000" b="1" dirty="0">
              <a:solidFill>
                <a:srgbClr val="1F4E79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737360" cy="73152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微软雅黑"/>
              </a:rPr>
              <a:t>训练信号 u(n)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554480"/>
            <a:ext cx="1463040" cy="731520"/>
          </a:xfrm>
          <a:prstGeom prst="roundRect">
            <a:avLst/>
          </a:prstGeom>
          <a:solidFill>
            <a:srgbClr val="E87A00"/>
          </a:solidFill>
          <a:ln>
            <a:solidFill>
              <a:srgbClr val="E8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微软雅黑"/>
              </a:rPr>
              <a:t>PA 采样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554480"/>
            <a:ext cx="1737360" cy="73152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微软雅黑"/>
              </a:rPr>
              <a:t>PA 输出 x(n)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554480"/>
            <a:ext cx="2103120" cy="731520"/>
          </a:xfrm>
          <a:prstGeom prst="roundRect">
            <a:avLst/>
          </a:prstGeom>
          <a:solidFill>
            <a:srgbClr val="C9A627"/>
          </a:solidFill>
          <a:ln>
            <a:solidFill>
              <a:srgbClr val="C9A6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微软雅黑"/>
              </a:rPr>
              <a:t>NN 输入=x, 目标=u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554480"/>
            <a:ext cx="2743200" cy="73152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微软雅黑"/>
              </a:rPr>
              <a:t>得到 PA 的逆函数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1920240"/>
            <a:ext cx="365760" cy="0"/>
          </a:xfrm>
          <a:prstGeom prst="bentConnector3">
            <a:avLst/>
          </a:prstGeom>
          <a:ln w="28575">
            <a:solidFill>
              <a:srgbClr val="1F4E7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1920240"/>
            <a:ext cx="365760" cy="0"/>
          </a:xfrm>
          <a:prstGeom prst="bentConnector3">
            <a:avLst/>
          </a:prstGeom>
          <a:ln w="28575">
            <a:solidFill>
              <a:srgbClr val="1F4E7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17920" y="1920240"/>
            <a:ext cx="365760" cy="0"/>
          </a:xfrm>
          <a:prstGeom prst="bentConnector3">
            <a:avLst/>
          </a:prstGeom>
          <a:ln w="28575">
            <a:solidFill>
              <a:srgbClr val="1F4E7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86800" y="1920240"/>
            <a:ext cx="365760" cy="0"/>
          </a:xfrm>
          <a:prstGeom prst="bentConnector3">
            <a:avLst/>
          </a:prstGeom>
          <a:ln w="28575">
            <a:solidFill>
              <a:srgbClr val="1F4E7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微软雅黑"/>
              </a:rPr>
              <a:t>① 训练阶段（离线，采集 (u, x) 数据对）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40"/>
            <a:ext cx="1737360" cy="73152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微软雅黑"/>
              </a:rPr>
              <a:t>发射信号 u(n)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3291840"/>
            <a:ext cx="2103120" cy="731520"/>
          </a:xfrm>
          <a:prstGeom prst="roundRect">
            <a:avLst/>
          </a:prstGeom>
          <a:solidFill>
            <a:srgbClr val="C9A627"/>
          </a:solidFill>
          <a:ln>
            <a:solidFill>
              <a:srgbClr val="C9A6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微软雅黑"/>
              </a:rPr>
              <a:t>训练好的 NN-DPD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3291840"/>
            <a:ext cx="1737360" cy="73152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微软雅黑"/>
              </a:rPr>
              <a:t>预失真信号 y(n)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3291840"/>
            <a:ext cx="1463040" cy="731520"/>
          </a:xfrm>
          <a:prstGeom prst="roundRect">
            <a:avLst/>
          </a:prstGeom>
          <a:solidFill>
            <a:srgbClr val="E87A00"/>
          </a:solidFill>
          <a:ln>
            <a:solidFill>
              <a:srgbClr val="E8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微软雅黑"/>
              </a:rPr>
              <a:t>PA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3291840"/>
            <a:ext cx="2743200" cy="73152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微软雅黑"/>
              </a:rPr>
              <a:t>线性化输出 z(n)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86000" y="3657600"/>
            <a:ext cx="365760" cy="0"/>
          </a:xfrm>
          <a:prstGeom prst="bentConnector3">
            <a:avLst/>
          </a:prstGeom>
          <a:ln w="28575">
            <a:solidFill>
              <a:srgbClr val="1F4E7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54880" y="3657600"/>
            <a:ext cx="365760" cy="0"/>
          </a:xfrm>
          <a:prstGeom prst="bentConnector3">
            <a:avLst/>
          </a:prstGeom>
          <a:ln w="28575">
            <a:solidFill>
              <a:srgbClr val="1F4E7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3657600"/>
            <a:ext cx="365760" cy="0"/>
          </a:xfrm>
          <a:prstGeom prst="bentConnector3">
            <a:avLst/>
          </a:prstGeom>
          <a:ln w="28575">
            <a:solidFill>
              <a:srgbClr val="1F4E7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686800" y="3657600"/>
            <a:ext cx="365760" cy="0"/>
          </a:xfrm>
          <a:prstGeom prst="bentConnector3">
            <a:avLst/>
          </a:prstGeom>
          <a:ln w="28575">
            <a:solidFill>
              <a:srgbClr val="1F4E7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2971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微软雅黑"/>
              </a:rPr>
              <a:t>② 部署阶段（把 NN-DPD 串在 PA 前面）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480560"/>
            <a:ext cx="10972800" cy="4846320"/>
          </a:xfrm>
          <a:prstGeom prst="rect">
            <a:avLst/>
          </a:prstGeom>
          <a:noFill/>
        </p:spPr>
        <p:txBody>
          <a:bodyPr wrap="square" lIns="76200" tIns="76200" rIns="76200" bIns="762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 dirty="0">
                <a:solidFill>
                  <a:srgbClr val="222222"/>
                </a:solidFill>
                <a:latin typeface="微软雅黑"/>
              </a:rPr>
              <a:t>• </a:t>
            </a:r>
            <a:r>
              <a:rPr sz="1600" dirty="0" err="1">
                <a:solidFill>
                  <a:srgbClr val="222222"/>
                </a:solidFill>
                <a:latin typeface="微软雅黑"/>
              </a:rPr>
              <a:t>核心思想：NN</a:t>
            </a:r>
            <a:r>
              <a:rPr sz="1600" dirty="0">
                <a:solidFill>
                  <a:srgbClr val="222222"/>
                </a:solidFill>
                <a:latin typeface="微软雅黑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微软雅黑"/>
              </a:rPr>
              <a:t>学到的是</a:t>
            </a:r>
            <a:r>
              <a:rPr sz="1600" dirty="0">
                <a:solidFill>
                  <a:srgbClr val="222222"/>
                </a:solidFill>
                <a:latin typeface="微软雅黑"/>
              </a:rPr>
              <a:t> PA </a:t>
            </a:r>
            <a:r>
              <a:rPr sz="1600" dirty="0" err="1">
                <a:solidFill>
                  <a:srgbClr val="222222"/>
                </a:solidFill>
                <a:latin typeface="微软雅黑"/>
              </a:rPr>
              <a:t>的逆；放到</a:t>
            </a:r>
            <a:r>
              <a:rPr sz="1600" dirty="0">
                <a:solidFill>
                  <a:srgbClr val="222222"/>
                </a:solidFill>
                <a:latin typeface="微软雅黑"/>
              </a:rPr>
              <a:t> PA </a:t>
            </a:r>
            <a:r>
              <a:rPr sz="1600" dirty="0" err="1">
                <a:solidFill>
                  <a:srgbClr val="222222"/>
                </a:solidFill>
                <a:latin typeface="微软雅黑"/>
              </a:rPr>
              <a:t>前面，预失真</a:t>
            </a:r>
            <a:r>
              <a:rPr sz="1600" dirty="0">
                <a:solidFill>
                  <a:srgbClr val="222222"/>
                </a:solidFill>
                <a:latin typeface="微软雅黑"/>
              </a:rPr>
              <a:t> × PA = </a:t>
            </a:r>
            <a:r>
              <a:rPr sz="1600" dirty="0" err="1">
                <a:solidFill>
                  <a:srgbClr val="222222"/>
                </a:solidFill>
                <a:latin typeface="微软雅黑"/>
              </a:rPr>
              <a:t>线性</a:t>
            </a:r>
            <a:endParaRPr sz="1600" dirty="0">
              <a:solidFill>
                <a:srgbClr val="222222"/>
              </a:solidFill>
              <a:latin typeface="微软雅黑"/>
            </a:endParaRP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 dirty="0">
                <a:solidFill>
                  <a:srgbClr val="222222"/>
                </a:solidFill>
                <a:latin typeface="微软雅黑"/>
              </a:rPr>
              <a:t>• </a:t>
            </a:r>
            <a:r>
              <a:rPr sz="1600" dirty="0" err="1">
                <a:solidFill>
                  <a:srgbClr val="222222"/>
                </a:solidFill>
                <a:latin typeface="微软雅黑"/>
              </a:rPr>
              <a:t>优点：避免在线拟合</a:t>
            </a:r>
            <a:r>
              <a:rPr sz="1600" dirty="0">
                <a:solidFill>
                  <a:srgbClr val="222222"/>
                </a:solidFill>
                <a:latin typeface="微软雅黑"/>
              </a:rPr>
              <a:t> PA </a:t>
            </a:r>
            <a:r>
              <a:rPr sz="1600" dirty="0" err="1">
                <a:solidFill>
                  <a:srgbClr val="222222"/>
                </a:solidFill>
                <a:latin typeface="微软雅黑"/>
              </a:rPr>
              <a:t>模型，训练完直接推理；对硬件友好</a:t>
            </a:r>
            <a:endParaRPr sz="1600" dirty="0">
              <a:solidFill>
                <a:srgbClr val="222222"/>
              </a:solidFill>
              <a:latin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微软雅黑"/>
              </a:rPr>
              <a:t>NN-DPD 离线训练 · 汇报材料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/>
              </a:rPr>
              <a:t>步骤 1：数据生成（100 MHz OFDM 激励）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 lIns="76200" tIns="76200" rIns="76200" bIns="762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 dirty="0">
                <a:solidFill>
                  <a:srgbClr val="222222"/>
                </a:solidFill>
                <a:latin typeface="微软雅黑"/>
              </a:rPr>
              <a:t>• 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基于</a:t>
            </a:r>
            <a:r>
              <a:rPr sz="1800" dirty="0">
                <a:solidFill>
                  <a:srgbClr val="222222"/>
                </a:solidFill>
                <a:latin typeface="微软雅黑"/>
              </a:rPr>
              <a:t> 5G 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参数生成</a:t>
            </a:r>
            <a:r>
              <a:rPr sz="1800" dirty="0">
                <a:solidFill>
                  <a:srgbClr val="222222"/>
                </a:solidFill>
                <a:latin typeface="微软雅黑"/>
              </a:rPr>
              <a:t> OFDM 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信号（helperOFDMParameters</a:t>
            </a:r>
            <a:r>
              <a:rPr sz="1800" dirty="0">
                <a:solidFill>
                  <a:srgbClr val="222222"/>
                </a:solidFill>
                <a:latin typeface="微软雅黑"/>
              </a:rPr>
              <a:t>）</a:t>
            </a:r>
          </a:p>
          <a:p>
            <a:pPr lvl="1">
              <a:lnSpc>
                <a:spcPct val="125000"/>
              </a:lnSpc>
              <a:spcAft>
                <a:spcPts val="400"/>
              </a:spcAft>
            </a:pPr>
            <a:r>
              <a:rPr sz="1600" dirty="0">
                <a:solidFill>
                  <a:srgbClr val="555555"/>
                </a:solidFill>
                <a:latin typeface="微软雅黑"/>
              </a:rPr>
              <a:t>–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子载波间隔</a:t>
            </a:r>
            <a:r>
              <a:rPr sz="1600" dirty="0">
                <a:solidFill>
                  <a:srgbClr val="555555"/>
                </a:solidFill>
                <a:latin typeface="微软雅黑"/>
              </a:rPr>
              <a:t> SCS = 30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kHz，FFT</a:t>
            </a:r>
            <a:r>
              <a:rPr sz="1600" dirty="0">
                <a:solidFill>
                  <a:srgbClr val="555555"/>
                </a:solidFill>
                <a:latin typeface="微软雅黑"/>
              </a:rPr>
              <a:t>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长度</a:t>
            </a:r>
            <a:r>
              <a:rPr sz="1600" dirty="0">
                <a:solidFill>
                  <a:srgbClr val="555555"/>
                </a:solidFill>
                <a:latin typeface="微软雅黑"/>
              </a:rPr>
              <a:t> = 4096</a:t>
            </a:r>
          </a:p>
          <a:p>
            <a:pPr lvl="1">
              <a:lnSpc>
                <a:spcPct val="125000"/>
              </a:lnSpc>
              <a:spcAft>
                <a:spcPts val="400"/>
              </a:spcAft>
            </a:pPr>
            <a:r>
              <a:rPr sz="1600" dirty="0">
                <a:solidFill>
                  <a:srgbClr val="555555"/>
                </a:solidFill>
                <a:latin typeface="微软雅黑"/>
              </a:rPr>
              <a:t>–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数据子载波</a:t>
            </a:r>
            <a:r>
              <a:rPr sz="1600" dirty="0">
                <a:solidFill>
                  <a:srgbClr val="555555"/>
                </a:solidFill>
                <a:latin typeface="微软雅黑"/>
              </a:rPr>
              <a:t> 3276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个，CP</a:t>
            </a:r>
            <a:r>
              <a:rPr sz="1600" dirty="0">
                <a:solidFill>
                  <a:srgbClr val="555555"/>
                </a:solidFill>
                <a:latin typeface="微软雅黑"/>
              </a:rPr>
              <a:t>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长度</a:t>
            </a:r>
            <a:r>
              <a:rPr sz="1600" dirty="0">
                <a:solidFill>
                  <a:srgbClr val="555555"/>
                </a:solidFill>
                <a:latin typeface="微软雅黑"/>
              </a:rPr>
              <a:t> 288，每帧 6 个 OFDM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符号</a:t>
            </a:r>
            <a:endParaRPr sz="1600" dirty="0">
              <a:solidFill>
                <a:srgbClr val="555555"/>
              </a:solidFill>
              <a:latin typeface="微软雅黑"/>
            </a:endParaRPr>
          </a:p>
          <a:p>
            <a:pPr lvl="1">
              <a:lnSpc>
                <a:spcPct val="125000"/>
              </a:lnSpc>
              <a:spcAft>
                <a:spcPts val="400"/>
              </a:spcAft>
            </a:pPr>
            <a:r>
              <a:rPr sz="1600" dirty="0">
                <a:solidFill>
                  <a:srgbClr val="555555"/>
                </a:solidFill>
                <a:latin typeface="微软雅黑"/>
              </a:rPr>
              <a:t>–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子载波上调制</a:t>
            </a:r>
            <a:r>
              <a:rPr sz="1600" dirty="0">
                <a:solidFill>
                  <a:srgbClr val="555555"/>
                </a:solidFill>
                <a:latin typeface="微软雅黑"/>
              </a:rPr>
              <a:t> 16-QAM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符号</a:t>
            </a:r>
            <a:endParaRPr sz="1600" dirty="0">
              <a:solidFill>
                <a:srgbClr val="555555"/>
              </a:solidFill>
              <a:latin typeface="微软雅黑"/>
            </a:endParaRP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 dirty="0">
                <a:solidFill>
                  <a:srgbClr val="222222"/>
                </a:solidFill>
                <a:latin typeface="微软雅黑"/>
              </a:rPr>
              <a:t>• 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过采样因子</a:t>
            </a:r>
            <a:r>
              <a:rPr sz="1800" dirty="0">
                <a:solidFill>
                  <a:srgbClr val="222222"/>
                </a:solidFill>
                <a:latin typeface="微软雅黑"/>
              </a:rPr>
              <a:t> 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osf</a:t>
            </a:r>
            <a:r>
              <a:rPr sz="1800" dirty="0">
                <a:solidFill>
                  <a:srgbClr val="222222"/>
                </a:solidFill>
                <a:latin typeface="微软雅黑"/>
              </a:rPr>
              <a:t> = 5 → 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采样率</a:t>
            </a:r>
            <a:r>
              <a:rPr sz="1800" dirty="0">
                <a:solidFill>
                  <a:srgbClr val="222222"/>
                </a:solidFill>
                <a:latin typeface="微软雅黑"/>
              </a:rPr>
              <a:t> 30 kHz × 4096 × 5 ≈ 614.4 MHz</a:t>
            </a:r>
          </a:p>
          <a:p>
            <a:pPr lvl="1">
              <a:lnSpc>
                <a:spcPct val="125000"/>
              </a:lnSpc>
              <a:spcAft>
                <a:spcPts val="400"/>
              </a:spcAft>
            </a:pPr>
            <a:r>
              <a:rPr sz="1600" dirty="0">
                <a:solidFill>
                  <a:srgbClr val="555555"/>
                </a:solidFill>
                <a:latin typeface="微软雅黑"/>
              </a:rPr>
              <a:t>–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目的：抓住</a:t>
            </a:r>
            <a:r>
              <a:rPr sz="1600" dirty="0">
                <a:solidFill>
                  <a:srgbClr val="555555"/>
                </a:solidFill>
                <a:latin typeface="微软雅黑"/>
              </a:rPr>
              <a:t> PA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产生的高阶非线性分量（带外频谱</a:t>
            </a:r>
            <a:r>
              <a:rPr sz="1600" dirty="0">
                <a:solidFill>
                  <a:srgbClr val="555555"/>
                </a:solidFill>
                <a:latin typeface="微软雅黑"/>
              </a:rPr>
              <a:t>）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 dirty="0">
                <a:solidFill>
                  <a:srgbClr val="222222"/>
                </a:solidFill>
                <a:latin typeface="微软雅黑"/>
              </a:rPr>
              <a:t>• 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生成三套相互独立的数据（相同分布，不同随机序列</a:t>
            </a:r>
            <a:r>
              <a:rPr sz="1800" dirty="0">
                <a:solidFill>
                  <a:srgbClr val="222222"/>
                </a:solidFill>
                <a:latin typeface="微软雅黑"/>
              </a:rPr>
              <a:t>）</a:t>
            </a:r>
          </a:p>
          <a:p>
            <a:pPr lvl="1">
              <a:lnSpc>
                <a:spcPct val="125000"/>
              </a:lnSpc>
              <a:spcAft>
                <a:spcPts val="400"/>
              </a:spcAft>
            </a:pPr>
            <a:r>
              <a:rPr sz="1600" dirty="0">
                <a:solidFill>
                  <a:srgbClr val="555555"/>
                </a:solidFill>
                <a:latin typeface="微软雅黑"/>
              </a:rPr>
              <a:t>–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txWaveTrain</a:t>
            </a:r>
            <a:r>
              <a:rPr sz="1600" dirty="0">
                <a:solidFill>
                  <a:srgbClr val="555555"/>
                </a:solidFill>
                <a:latin typeface="微软雅黑"/>
              </a:rPr>
              <a:t> /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txWaveVal</a:t>
            </a:r>
            <a:r>
              <a:rPr sz="1600" dirty="0">
                <a:solidFill>
                  <a:srgbClr val="555555"/>
                </a:solidFill>
                <a:latin typeface="微软雅黑"/>
              </a:rPr>
              <a:t> /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txWaveTest</a:t>
            </a:r>
            <a:endParaRPr sz="1600" dirty="0">
              <a:solidFill>
                <a:srgbClr val="555555"/>
              </a:solidFill>
              <a:latin typeface="微软雅黑"/>
            </a:endParaRP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 dirty="0">
                <a:solidFill>
                  <a:srgbClr val="222222"/>
                </a:solidFill>
                <a:latin typeface="微软雅黑"/>
              </a:rPr>
              <a:t>• 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全部送入</a:t>
            </a:r>
            <a:r>
              <a:rPr sz="1800" dirty="0">
                <a:solidFill>
                  <a:srgbClr val="222222"/>
                </a:solidFill>
                <a:latin typeface="微软雅黑"/>
              </a:rPr>
              <a:t> 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helperNNDPDPowerAmplifier</a:t>
            </a:r>
            <a:r>
              <a:rPr sz="1800" dirty="0">
                <a:solidFill>
                  <a:srgbClr val="222222"/>
                </a:solidFill>
                <a:latin typeface="微软雅黑"/>
              </a:rPr>
              <a:t> 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获得</a:t>
            </a:r>
            <a:r>
              <a:rPr sz="1800" dirty="0">
                <a:solidFill>
                  <a:srgbClr val="222222"/>
                </a:solidFill>
                <a:latin typeface="微软雅黑"/>
              </a:rPr>
              <a:t> PA 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输出，得到</a:t>
            </a:r>
            <a:r>
              <a:rPr sz="1800" dirty="0">
                <a:solidFill>
                  <a:srgbClr val="222222"/>
                </a:solidFill>
                <a:latin typeface="微软雅黑"/>
              </a:rPr>
              <a:t> (u, x) 对</a:t>
            </a:r>
          </a:p>
          <a:p>
            <a:pPr lvl="1">
              <a:lnSpc>
                <a:spcPct val="125000"/>
              </a:lnSpc>
              <a:spcAft>
                <a:spcPts val="400"/>
              </a:spcAft>
            </a:pPr>
            <a:r>
              <a:rPr sz="1600" dirty="0">
                <a:solidFill>
                  <a:srgbClr val="555555"/>
                </a:solidFill>
                <a:latin typeface="微软雅黑"/>
              </a:rPr>
              <a:t>–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数据源可选：真实</a:t>
            </a:r>
            <a:r>
              <a:rPr sz="1600" dirty="0">
                <a:solidFill>
                  <a:srgbClr val="555555"/>
                </a:solidFill>
                <a:latin typeface="微软雅黑"/>
              </a:rPr>
              <a:t> NI VST + NXP Doherty PA /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仿真</a:t>
            </a:r>
            <a:r>
              <a:rPr sz="1600" dirty="0">
                <a:solidFill>
                  <a:srgbClr val="555555"/>
                </a:solidFill>
                <a:latin typeface="微软雅黑"/>
              </a:rPr>
              <a:t> PA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模型</a:t>
            </a:r>
            <a:r>
              <a:rPr sz="1600" dirty="0">
                <a:solidFill>
                  <a:srgbClr val="555555"/>
                </a:solidFill>
                <a:latin typeface="微软雅黑"/>
              </a:rPr>
              <a:t> /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已保存数据</a:t>
            </a:r>
            <a:endParaRPr sz="1600" dirty="0">
              <a:solidFill>
                <a:srgbClr val="555555"/>
              </a:solidFill>
              <a:latin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微软雅黑"/>
              </a:rPr>
              <a:t>NN-DPD 离线训练 · 汇报材料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/>
              </a:rPr>
              <a:t>步骤 2：特征构造（ARVTDNN 的「专家知识」输入）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 lIns="76200" tIns="76200" rIns="76200" bIns="762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  <a:latin typeface="微软雅黑"/>
              </a:rPr>
              <a:t>• 背景：PA 记忆多项式模型</a:t>
            </a:r>
          </a:p>
          <a:p>
            <a:pPr lvl="1">
              <a:lnSpc>
                <a:spcPct val="125000"/>
              </a:lnSpc>
              <a:spcAft>
                <a:spcPts val="400"/>
              </a:spcAft>
            </a:pPr>
            <a:r>
              <a:rPr sz="1600">
                <a:solidFill>
                  <a:srgbClr val="555555"/>
                </a:solidFill>
                <a:latin typeface="微软雅黑"/>
              </a:rPr>
              <a:t>– x(n) = ΣΣ c_{m,k} · u(n−m) · |u(n−m)|^k   (m=0..M−1, k=0..K−1)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  <a:latin typeface="微软雅黑"/>
              </a:rPr>
              <a:t>• 把记忆多项式的先验打包成神经网络输入，降低网络规模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  <a:latin typeface="微软雅黑"/>
              </a:rPr>
              <a:t>• 取 M=5（记忆深度），K=5（非线性阶数）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  <a:latin typeface="微软雅黑"/>
              </a:rPr>
              <a:t>• 每个时刻 n 的输入特征：</a:t>
            </a:r>
          </a:p>
          <a:p>
            <a:pPr lvl="1">
              <a:lnSpc>
                <a:spcPct val="125000"/>
              </a:lnSpc>
              <a:spcAft>
                <a:spcPts val="400"/>
              </a:spcAft>
            </a:pPr>
            <a:r>
              <a:rPr sz="1600">
                <a:solidFill>
                  <a:srgbClr val="555555"/>
                </a:solidFill>
                <a:latin typeface="微软雅黑"/>
              </a:rPr>
              <a:t>– I/Q 分量及其 M 个延迟：2M = 10 维</a:t>
            </a:r>
          </a:p>
          <a:p>
            <a:pPr lvl="1">
              <a:lnSpc>
                <a:spcPct val="125000"/>
              </a:lnSpc>
              <a:spcAft>
                <a:spcPts val="400"/>
              </a:spcAft>
            </a:pPr>
            <a:r>
              <a:rPr sz="1600">
                <a:solidFill>
                  <a:srgbClr val="555555"/>
                </a:solidFill>
                <a:latin typeface="微软雅黑"/>
              </a:rPr>
              <a:t>– 幅度高阶项 |u(n−m)|^k，k=2..5：(K−1)·M = 20 维</a:t>
            </a:r>
          </a:p>
          <a:p>
            <a:pPr lvl="1">
              <a:lnSpc>
                <a:spcPct val="125000"/>
              </a:lnSpc>
              <a:spcAft>
                <a:spcPts val="400"/>
              </a:spcAft>
            </a:pPr>
            <a:r>
              <a:rPr sz="1600">
                <a:solidFill>
                  <a:srgbClr val="555555"/>
                </a:solidFill>
                <a:latin typeface="微软雅黑"/>
              </a:rPr>
              <a:t>– 合计输入维度 = 30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  <a:latin typeface="微软雅黑"/>
              </a:rPr>
              <a:t>• 目标输出（训练标签）：对应 PA 输入 u(n) 的 I/Q → 2 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微软雅黑"/>
              </a:rPr>
              <a:t>NN-DPD 离线训练 · 汇报材料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/>
              </a:rPr>
              <a:t>步骤 3：网络结构（全连接 TDNN）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920240" cy="1097280"/>
          </a:xfrm>
          <a:prstGeom prst="round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输入层
30 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60320" y="2377440"/>
            <a:ext cx="365760" cy="0"/>
          </a:xfrm>
          <a:prstGeom prst="bentConnector3">
            <a:avLst/>
          </a:prstGeom>
          <a:ln w="28575">
            <a:solidFill>
              <a:srgbClr val="1F4E7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26080" y="1828800"/>
            <a:ext cx="1920240" cy="1097280"/>
          </a:xfrm>
          <a:prstGeom prst="roundRect">
            <a:avLst/>
          </a:prstGeom>
          <a:solidFill>
            <a:srgbClr val="E87A00"/>
          </a:solidFill>
          <a:ln>
            <a:solidFill>
              <a:srgbClr val="E8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FC 30
+LeakyReLU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46320" y="2377440"/>
            <a:ext cx="365760" cy="0"/>
          </a:xfrm>
          <a:prstGeom prst="bentConnector3">
            <a:avLst/>
          </a:prstGeom>
          <a:ln w="28575">
            <a:solidFill>
              <a:srgbClr val="1F4E7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212080" y="1828800"/>
            <a:ext cx="1920240" cy="1097280"/>
          </a:xfrm>
          <a:prstGeom prst="roundRect">
            <a:avLst/>
          </a:prstGeom>
          <a:solidFill>
            <a:srgbClr val="E87A00"/>
          </a:solidFill>
          <a:ln>
            <a:solidFill>
              <a:srgbClr val="E8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FC 24
+LeakyReLU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32320" y="2377440"/>
            <a:ext cx="365760" cy="0"/>
          </a:xfrm>
          <a:prstGeom prst="bentConnector3">
            <a:avLst/>
          </a:prstGeom>
          <a:ln w="28575">
            <a:solidFill>
              <a:srgbClr val="1F4E7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98080" y="1828800"/>
            <a:ext cx="1920240" cy="1097280"/>
          </a:xfrm>
          <a:prstGeom prst="roundRect">
            <a:avLst/>
          </a:prstGeom>
          <a:solidFill>
            <a:srgbClr val="E87A00"/>
          </a:solidFill>
          <a:ln>
            <a:solidFill>
              <a:srgbClr val="E8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FC 19
+LeakyReLU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418320" y="2377440"/>
            <a:ext cx="365760" cy="0"/>
          </a:xfrm>
          <a:prstGeom prst="bentConnector3">
            <a:avLst/>
          </a:prstGeom>
          <a:ln w="28575">
            <a:solidFill>
              <a:srgbClr val="1F4E79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784080" y="1828800"/>
            <a:ext cx="1920240" cy="1097280"/>
          </a:xfrm>
          <a:prstGeom prst="roundRect">
            <a:avLst/>
          </a:prstGeom>
          <a:solidFill>
            <a:srgbClr val="C9A627"/>
          </a:solidFill>
          <a:ln>
            <a:solidFill>
              <a:srgbClr val="C9A6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400" b="1">
                <a:solidFill>
                  <a:srgbClr val="000000"/>
                </a:solidFill>
                <a:latin typeface="微软雅黑"/>
              </a:rPr>
              <a:t>输出层
2 维 (I,Q)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10972800" cy="4846320"/>
          </a:xfrm>
          <a:prstGeom prst="rect">
            <a:avLst/>
          </a:prstGeom>
          <a:noFill/>
        </p:spPr>
        <p:txBody>
          <a:bodyPr wrap="square" lIns="76200" tIns="76200" rIns="76200" bIns="762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  <a:latin typeface="微软雅黑"/>
              </a:rPr>
              <a:t>• 神经元数量按 0.8 的比例逐层缩减（30 → 24 → 19）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  <a:latin typeface="微软雅黑"/>
              </a:rPr>
              <a:t>• 激活函数：LeakyReLU(0.01)；输出层为线性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  <a:latin typeface="微软雅黑"/>
              </a:rPr>
              <a:t>• 输出代表预失真后信号的实部/虚部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  <a:latin typeface="微软雅黑"/>
              </a:rPr>
              <a:t>• 网络规模小，适合实时推理（推理每样本仅 ~2k MAC）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微软雅黑"/>
              </a:rPr>
              <a:t>NN-DPD 离线训练 · 汇报材料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/>
              </a:rPr>
              <a:t>步骤 4：训练配置（离线监督学习）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 lIns="76200" tIns="76200" rIns="76200" bIns="762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  <a:latin typeface="微软雅黑"/>
              </a:rPr>
              <a:t>• 优化器：Adam；损失函数：MSE（回归 I/Q 两路输出）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  <a:latin typeface="微软雅黑"/>
              </a:rPr>
              <a:t>• Mini-batch = 1024，最大 epoch = 200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  <a:latin typeface="微软雅黑"/>
              </a:rPr>
              <a:t>• 初始学习率 4e-4；每 5 个 epoch 乘 0.95（piecewise）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  <a:latin typeface="微软雅黑"/>
              </a:rPr>
              <a:t>• 验证频率：每 epoch 两次；ValidationPatience = 5 → 早停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  <a:latin typeface="微软雅黑"/>
              </a:rPr>
              <a:t>• 输出选择：OutputNetwork = best-validation-loss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  <a:latin typeface="微软雅黑"/>
              </a:rPr>
              <a:t>• 训练硬件：Intel Xeon W-2133 CPU 约 6 分钟收敛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  <a:latin typeface="微软雅黑"/>
              </a:rPr>
              <a:t>• 示例默认加载预训练权重：nndpdIn30Fact08.mat</a:t>
            </a:r>
          </a:p>
          <a:p>
            <a:pPr lvl="1">
              <a:lnSpc>
                <a:spcPct val="125000"/>
              </a:lnSpc>
              <a:spcAft>
                <a:spcPts val="400"/>
              </a:spcAft>
            </a:pPr>
            <a:r>
              <a:rPr sz="1600">
                <a:solidFill>
                  <a:srgbClr val="555555"/>
                </a:solidFill>
                <a:latin typeface="微软雅黑"/>
              </a:rPr>
              <a:t>– 更换 PA / 带宽 / 目标功率时需要重新训练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微软雅黑"/>
              </a:rPr>
              <a:t>NN-DPD 离线训练 · 汇报材料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3044103" cy="4616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000" b="1" dirty="0" err="1">
                <a:solidFill>
                  <a:srgbClr val="1F4E79"/>
                </a:solidFill>
                <a:latin typeface="微软雅黑"/>
              </a:rPr>
              <a:t>步骤</a:t>
            </a:r>
            <a:r>
              <a:rPr sz="3000" b="1" dirty="0">
                <a:solidFill>
                  <a:srgbClr val="1F4E79"/>
                </a:solidFill>
                <a:latin typeface="微软雅黑"/>
              </a:rPr>
              <a:t> 5：测试流程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846320"/>
          </a:xfrm>
          <a:prstGeom prst="rect">
            <a:avLst/>
          </a:prstGeom>
          <a:noFill/>
        </p:spPr>
        <p:txBody>
          <a:bodyPr wrap="square" lIns="76200" tIns="76200" rIns="76200" bIns="762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 dirty="0">
                <a:solidFill>
                  <a:srgbClr val="222222"/>
                </a:solidFill>
                <a:latin typeface="微软雅黑"/>
              </a:rPr>
              <a:t>• 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用测试信号</a:t>
            </a:r>
            <a:r>
              <a:rPr sz="1800" dirty="0">
                <a:solidFill>
                  <a:srgbClr val="222222"/>
                </a:solidFill>
                <a:latin typeface="微软雅黑"/>
              </a:rPr>
              <a:t> 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txWaveTest</a:t>
            </a:r>
            <a:r>
              <a:rPr sz="1800" dirty="0">
                <a:solidFill>
                  <a:srgbClr val="222222"/>
                </a:solidFill>
                <a:latin typeface="微软雅黑"/>
              </a:rPr>
              <a:t> 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走三条支路进</a:t>
            </a:r>
            <a:r>
              <a:rPr sz="1800" dirty="0">
                <a:solidFill>
                  <a:srgbClr val="222222"/>
                </a:solidFill>
                <a:latin typeface="微软雅黑"/>
              </a:rPr>
              <a:t> 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PA，得到三组</a:t>
            </a:r>
            <a:r>
              <a:rPr sz="1800" dirty="0">
                <a:solidFill>
                  <a:srgbClr val="222222"/>
                </a:solidFill>
                <a:latin typeface="微软雅黑"/>
              </a:rPr>
              <a:t> PA 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输出</a:t>
            </a:r>
            <a:r>
              <a:rPr sz="1800" dirty="0">
                <a:solidFill>
                  <a:srgbClr val="222222"/>
                </a:solidFill>
                <a:latin typeface="微软雅黑"/>
              </a:rPr>
              <a:t>：</a:t>
            </a:r>
          </a:p>
          <a:p>
            <a:pPr lvl="1">
              <a:lnSpc>
                <a:spcPct val="125000"/>
              </a:lnSpc>
              <a:spcAft>
                <a:spcPts val="400"/>
              </a:spcAft>
            </a:pPr>
            <a:r>
              <a:rPr sz="1600" dirty="0">
                <a:solidFill>
                  <a:srgbClr val="555555"/>
                </a:solidFill>
                <a:latin typeface="微软雅黑"/>
              </a:rPr>
              <a:t>–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paOutputTest：直接送</a:t>
            </a:r>
            <a:r>
              <a:rPr sz="1600" dirty="0">
                <a:solidFill>
                  <a:srgbClr val="555555"/>
                </a:solidFill>
                <a:latin typeface="微软雅黑"/>
              </a:rPr>
              <a:t>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PA（No</a:t>
            </a:r>
            <a:r>
              <a:rPr sz="1600" dirty="0">
                <a:solidFill>
                  <a:srgbClr val="555555"/>
                </a:solidFill>
                <a:latin typeface="微软雅黑"/>
              </a:rPr>
              <a:t> DPD）</a:t>
            </a:r>
          </a:p>
          <a:p>
            <a:pPr lvl="1">
              <a:lnSpc>
                <a:spcPct val="125000"/>
              </a:lnSpc>
              <a:spcAft>
                <a:spcPts val="400"/>
              </a:spcAft>
            </a:pPr>
            <a:r>
              <a:rPr sz="1600" dirty="0">
                <a:solidFill>
                  <a:srgbClr val="555555"/>
                </a:solidFill>
                <a:latin typeface="微软雅黑"/>
              </a:rPr>
              <a:t>–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paOutputMP：经记忆多项式</a:t>
            </a:r>
            <a:r>
              <a:rPr sz="1600" dirty="0">
                <a:solidFill>
                  <a:srgbClr val="555555"/>
                </a:solidFill>
                <a:latin typeface="微软雅黑"/>
              </a:rPr>
              <a:t> DPD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预失真后再送</a:t>
            </a:r>
            <a:r>
              <a:rPr sz="1600" dirty="0">
                <a:solidFill>
                  <a:srgbClr val="555555"/>
                </a:solidFill>
                <a:latin typeface="微软雅黑"/>
              </a:rPr>
              <a:t> PA</a:t>
            </a:r>
          </a:p>
          <a:p>
            <a:pPr lvl="1">
              <a:lnSpc>
                <a:spcPct val="125000"/>
              </a:lnSpc>
              <a:spcAft>
                <a:spcPts val="400"/>
              </a:spcAft>
            </a:pPr>
            <a:r>
              <a:rPr sz="1600" dirty="0">
                <a:solidFill>
                  <a:srgbClr val="555555"/>
                </a:solidFill>
                <a:latin typeface="微软雅黑"/>
              </a:rPr>
              <a:t>–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paOutputNN：经</a:t>
            </a:r>
            <a:r>
              <a:rPr sz="1600" dirty="0">
                <a:solidFill>
                  <a:srgbClr val="555555"/>
                </a:solidFill>
                <a:latin typeface="微软雅黑"/>
              </a:rPr>
              <a:t> NN-DPD </a:t>
            </a:r>
            <a:r>
              <a:rPr sz="1600" dirty="0" err="1">
                <a:solidFill>
                  <a:srgbClr val="555555"/>
                </a:solidFill>
                <a:latin typeface="微软雅黑"/>
              </a:rPr>
              <a:t>预失真后再送</a:t>
            </a:r>
            <a:r>
              <a:rPr sz="1600" dirty="0">
                <a:solidFill>
                  <a:srgbClr val="555555"/>
                </a:solidFill>
                <a:latin typeface="微软雅黑"/>
              </a:rPr>
              <a:t> PA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 dirty="0">
                <a:solidFill>
                  <a:srgbClr val="222222"/>
                </a:solidFill>
                <a:latin typeface="微软雅黑"/>
              </a:rPr>
              <a:t>• </a:t>
            </a:r>
            <a:r>
              <a:rPr sz="1800" dirty="0" err="1">
                <a:solidFill>
                  <a:srgbClr val="222222"/>
                </a:solidFill>
                <a:latin typeface="微软雅黑"/>
              </a:rPr>
              <a:t>关键代码</a:t>
            </a:r>
            <a:r>
              <a:rPr sz="1800" dirty="0">
                <a:solidFill>
                  <a:srgbClr val="222222"/>
                </a:solidFill>
                <a:latin typeface="微软雅黑"/>
              </a:rPr>
              <a:t>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728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 err="1">
                <a:solidFill>
                  <a:srgbClr val="11355D"/>
                </a:solidFill>
                <a:latin typeface="Consolas"/>
              </a:rPr>
              <a:t>dpdOutNN</a:t>
            </a:r>
            <a:r>
              <a:rPr sz="1300" dirty="0">
                <a:solidFill>
                  <a:srgbClr val="11355D"/>
                </a:solidFill>
                <a:latin typeface="Consolas"/>
              </a:rPr>
              <a:t>  = predict(</a:t>
            </a:r>
            <a:r>
              <a:rPr sz="1300" dirty="0" err="1">
                <a:solidFill>
                  <a:srgbClr val="11355D"/>
                </a:solidFill>
                <a:latin typeface="Consolas"/>
              </a:rPr>
              <a:t>netDPD</a:t>
            </a:r>
            <a:r>
              <a:rPr sz="1300" dirty="0">
                <a:solidFill>
                  <a:srgbClr val="11355D"/>
                </a:solidFill>
                <a:latin typeface="Consolas"/>
              </a:rPr>
              <a:t>, </a:t>
            </a:r>
            <a:r>
              <a:rPr sz="1300" dirty="0" err="1">
                <a:solidFill>
                  <a:srgbClr val="11355D"/>
                </a:solidFill>
                <a:latin typeface="Consolas"/>
              </a:rPr>
              <a:t>inputMtxTest</a:t>
            </a:r>
            <a:r>
              <a:rPr sz="1300" dirty="0">
                <a:solidFill>
                  <a:srgbClr val="11355D"/>
                </a:solidFill>
                <a:latin typeface="Consolas"/>
              </a:rPr>
              <a:t>);</a:t>
            </a:r>
          </a:p>
          <a:p>
            <a:r>
              <a:rPr sz="1300" dirty="0" err="1">
                <a:solidFill>
                  <a:srgbClr val="11355D"/>
                </a:solidFill>
                <a:latin typeface="Consolas"/>
              </a:rPr>
              <a:t>paOutputNN</a:t>
            </a:r>
            <a:r>
              <a:rPr sz="1300" dirty="0">
                <a:solidFill>
                  <a:srgbClr val="11355D"/>
                </a:solidFill>
                <a:latin typeface="Consolas"/>
              </a:rPr>
              <a:t> = pa( complex(</a:t>
            </a:r>
            <a:r>
              <a:rPr sz="1300" dirty="0" err="1">
                <a:solidFill>
                  <a:srgbClr val="11355D"/>
                </a:solidFill>
                <a:latin typeface="Consolas"/>
              </a:rPr>
              <a:t>dpdOutNN</a:t>
            </a:r>
            <a:r>
              <a:rPr sz="1300" dirty="0">
                <a:solidFill>
                  <a:srgbClr val="11355D"/>
                </a:solidFill>
                <a:latin typeface="Consolas"/>
              </a:rPr>
              <a:t>(:,1), </a:t>
            </a:r>
            <a:r>
              <a:rPr sz="1300" dirty="0" err="1">
                <a:solidFill>
                  <a:srgbClr val="11355D"/>
                </a:solidFill>
                <a:latin typeface="Consolas"/>
              </a:rPr>
              <a:t>dpdOutNN</a:t>
            </a:r>
            <a:r>
              <a:rPr sz="1300" dirty="0">
                <a:solidFill>
                  <a:srgbClr val="11355D"/>
                </a:solidFill>
                <a:latin typeface="Consolas"/>
              </a:rPr>
              <a:t>(:,2)) / </a:t>
            </a:r>
            <a:r>
              <a:rPr sz="1300" dirty="0" err="1">
                <a:solidFill>
                  <a:srgbClr val="11355D"/>
                </a:solidFill>
                <a:latin typeface="Consolas"/>
              </a:rPr>
              <a:t>scalingFactor</a:t>
            </a:r>
            <a:r>
              <a:rPr sz="1300" dirty="0">
                <a:solidFill>
                  <a:srgbClr val="11355D"/>
                </a:solidFill>
                <a:latin typeface="Consolas"/>
              </a:rPr>
              <a:t> );</a:t>
            </a:r>
          </a:p>
          <a:p>
            <a:r>
              <a:rPr sz="1300" dirty="0" err="1">
                <a:solidFill>
                  <a:srgbClr val="11355D"/>
                </a:solidFill>
                <a:latin typeface="Consolas"/>
              </a:rPr>
              <a:t>dpdOutMP</a:t>
            </a:r>
            <a:r>
              <a:rPr sz="1300" dirty="0">
                <a:solidFill>
                  <a:srgbClr val="11355D"/>
                </a:solidFill>
                <a:latin typeface="Consolas"/>
              </a:rPr>
              <a:t>  = </a:t>
            </a:r>
            <a:r>
              <a:rPr sz="1300" dirty="0" err="1">
                <a:solidFill>
                  <a:srgbClr val="11355D"/>
                </a:solidFill>
                <a:latin typeface="Consolas"/>
              </a:rPr>
              <a:t>helperNNDPDMemoryPolynomial</a:t>
            </a:r>
            <a:r>
              <a:rPr sz="1300" dirty="0">
                <a:solidFill>
                  <a:srgbClr val="11355D"/>
                </a:solidFill>
                <a:latin typeface="Consolas"/>
              </a:rPr>
              <a:t>(</a:t>
            </a:r>
            <a:r>
              <a:rPr sz="1300" dirty="0" err="1">
                <a:solidFill>
                  <a:srgbClr val="11355D"/>
                </a:solidFill>
                <a:latin typeface="Consolas"/>
              </a:rPr>
              <a:t>txWaveTest</a:t>
            </a:r>
            <a:r>
              <a:rPr sz="1300" dirty="0">
                <a:solidFill>
                  <a:srgbClr val="11355D"/>
                </a:solidFill>
                <a:latin typeface="Consolas"/>
              </a:rPr>
              <a:t>, </a:t>
            </a:r>
            <a:r>
              <a:rPr sz="1300" dirty="0" err="1">
                <a:solidFill>
                  <a:srgbClr val="11355D"/>
                </a:solidFill>
                <a:latin typeface="Consolas"/>
              </a:rPr>
              <a:t>txWaveTrain</a:t>
            </a:r>
            <a:r>
              <a:rPr sz="1300" dirty="0">
                <a:solidFill>
                  <a:srgbClr val="11355D"/>
                </a:solidFill>
                <a:latin typeface="Consolas"/>
              </a:rPr>
              <a:t>, </a:t>
            </a:r>
            <a:r>
              <a:rPr sz="1300" dirty="0" err="1">
                <a:solidFill>
                  <a:srgbClr val="11355D"/>
                </a:solidFill>
                <a:latin typeface="Consolas"/>
              </a:rPr>
              <a:t>paOutputTrain</a:t>
            </a:r>
            <a:r>
              <a:rPr sz="1300" dirty="0">
                <a:solidFill>
                  <a:srgbClr val="11355D"/>
                </a:solidFill>
                <a:latin typeface="Consolas"/>
              </a:rPr>
              <a:t>, 5, 5);</a:t>
            </a:r>
          </a:p>
          <a:p>
            <a:r>
              <a:rPr sz="1300" dirty="0" err="1">
                <a:solidFill>
                  <a:srgbClr val="11355D"/>
                </a:solidFill>
                <a:latin typeface="Consolas"/>
              </a:rPr>
              <a:t>paOutputMP</a:t>
            </a:r>
            <a:r>
              <a:rPr sz="1300" dirty="0">
                <a:solidFill>
                  <a:srgbClr val="11355D"/>
                </a:solidFill>
                <a:latin typeface="Consolas"/>
              </a:rPr>
              <a:t> = pa(</a:t>
            </a:r>
            <a:r>
              <a:rPr sz="1300" dirty="0" err="1">
                <a:solidFill>
                  <a:srgbClr val="11355D"/>
                </a:solidFill>
                <a:latin typeface="Consolas"/>
              </a:rPr>
              <a:t>dpdOutMP</a:t>
            </a:r>
            <a:r>
              <a:rPr sz="1300" dirty="0">
                <a:solidFill>
                  <a:srgbClr val="11355D"/>
                </a:solidFill>
                <a:latin typeface="Consolas"/>
              </a:rPr>
              <a:t>);</a:t>
            </a:r>
          </a:p>
          <a:p>
            <a:r>
              <a:rPr sz="1300" dirty="0" err="1">
                <a:solidFill>
                  <a:srgbClr val="11355D"/>
                </a:solidFill>
                <a:latin typeface="Consolas"/>
              </a:rPr>
              <a:t>sa</a:t>
            </a:r>
            <a:r>
              <a:rPr sz="1300" dirty="0">
                <a:solidFill>
                  <a:srgbClr val="11355D"/>
                </a:solidFill>
                <a:latin typeface="Consolas"/>
              </a:rPr>
              <a:t> = </a:t>
            </a:r>
            <a:r>
              <a:rPr sz="1300" dirty="0" err="1">
                <a:solidFill>
                  <a:srgbClr val="11355D"/>
                </a:solidFill>
                <a:latin typeface="Consolas"/>
              </a:rPr>
              <a:t>helperPACharPlotSpectrum</a:t>
            </a:r>
            <a:r>
              <a:rPr sz="1300" dirty="0">
                <a:solidFill>
                  <a:srgbClr val="11355D"/>
                </a:solidFill>
                <a:latin typeface="Consolas"/>
              </a:rPr>
              <a:t>([</a:t>
            </a:r>
            <a:r>
              <a:rPr sz="1300" dirty="0" err="1">
                <a:solidFill>
                  <a:srgbClr val="11355D"/>
                </a:solidFill>
                <a:latin typeface="Consolas"/>
              </a:rPr>
              <a:t>paOutputTest</a:t>
            </a:r>
            <a:r>
              <a:rPr sz="1300" dirty="0">
                <a:solidFill>
                  <a:srgbClr val="11355D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11355D"/>
                </a:solidFill>
                <a:latin typeface="Consolas"/>
              </a:rPr>
              <a:t>paOutputMP</a:t>
            </a:r>
            <a:r>
              <a:rPr sz="1300" dirty="0">
                <a:solidFill>
                  <a:srgbClr val="11355D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11355D"/>
                </a:solidFill>
                <a:latin typeface="Consolas"/>
              </a:rPr>
              <a:t>paOutputNN</a:t>
            </a:r>
            <a:r>
              <a:rPr sz="1300" dirty="0">
                <a:solidFill>
                  <a:srgbClr val="11355D"/>
                </a:solidFill>
                <a:latin typeface="Consolas"/>
              </a:rPr>
              <a:t>], ...</a:t>
            </a:r>
          </a:p>
          <a:p>
            <a:r>
              <a:rPr sz="1300" dirty="0">
                <a:solidFill>
                  <a:srgbClr val="11355D"/>
                </a:solidFill>
                <a:latin typeface="Consolas"/>
              </a:rPr>
              <a:t>       {'No </a:t>
            </a:r>
            <a:r>
              <a:rPr sz="1300" dirty="0" err="1">
                <a:solidFill>
                  <a:srgbClr val="11355D"/>
                </a:solidFill>
                <a:latin typeface="Consolas"/>
              </a:rPr>
              <a:t>DPD','Memory</a:t>
            </a:r>
            <a:r>
              <a:rPr sz="1300" dirty="0">
                <a:solidFill>
                  <a:srgbClr val="11355D"/>
                </a:solidFill>
                <a:latin typeface="Consolas"/>
              </a:rPr>
              <a:t> Polynomial </a:t>
            </a:r>
            <a:r>
              <a:rPr sz="1300" dirty="0" err="1">
                <a:solidFill>
                  <a:srgbClr val="11355D"/>
                </a:solidFill>
                <a:latin typeface="Consolas"/>
              </a:rPr>
              <a:t>DPD','Neural</a:t>
            </a:r>
            <a:r>
              <a:rPr sz="1300" dirty="0">
                <a:solidFill>
                  <a:srgbClr val="11355D"/>
                </a:solidFill>
                <a:latin typeface="Consolas"/>
              </a:rPr>
              <a:t> Network DPD'}, ...</a:t>
            </a:r>
          </a:p>
          <a:p>
            <a:r>
              <a:rPr sz="1300" dirty="0">
                <a:solidFill>
                  <a:srgbClr val="11355D"/>
                </a:solidFill>
                <a:latin typeface="Consolas"/>
              </a:rPr>
              <a:t>       </a:t>
            </a:r>
            <a:r>
              <a:rPr sz="1300" dirty="0" err="1">
                <a:solidFill>
                  <a:srgbClr val="11355D"/>
                </a:solidFill>
                <a:latin typeface="Consolas"/>
              </a:rPr>
              <a:t>ofdmParams.OversamplingFactor</a:t>
            </a:r>
            <a:r>
              <a:rPr sz="1300" dirty="0">
                <a:solidFill>
                  <a:srgbClr val="11355D"/>
                </a:solidFill>
                <a:latin typeface="Consolas"/>
              </a:rPr>
              <a:t>, "Modulated", [-130 -50]);</a:t>
            </a:r>
            <a:endParaRPr lang="en-US" sz="1300" dirty="0">
              <a:solidFill>
                <a:srgbClr val="11355D"/>
              </a:solidFill>
              <a:latin typeface="Consolas"/>
            </a:endParaRPr>
          </a:p>
          <a:p>
            <a:r>
              <a:rPr lang="en-US" sz="1300" dirty="0">
                <a:solidFill>
                  <a:srgbClr val="11355D"/>
                </a:solidFill>
                <a:latin typeface="Consolas"/>
              </a:rPr>
              <a:t>##</a:t>
            </a:r>
            <a:r>
              <a:rPr lang="zh-CN" altLang="en-US" sz="1300" dirty="0">
                <a:solidFill>
                  <a:srgbClr val="11355D"/>
                </a:solidFill>
                <a:latin typeface="Consolas"/>
              </a:rPr>
              <a:t>图片在此处生成</a:t>
            </a:r>
            <a:endParaRPr sz="1300" dirty="0">
              <a:solidFill>
                <a:srgbClr val="11355D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微软雅黑"/>
              </a:rPr>
              <a:t>NN-DPD 离线训练 · 汇报材料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8229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F4E79"/>
                </a:solidFill>
                <a:latin typeface="微软雅黑"/>
              </a:rPr>
              <a:t>结果对比：频谱图与三项定量指标互相印证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</a:rPr>
                        <a:t>方案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</a:rPr>
                        <a:t>ACPR (dB) ↓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</a:rPr>
                        <a:t>NMSE (dB) ↓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</a:rPr>
                        <a:t>EVM (%) ↓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微软雅黑"/>
                        </a:rPr>
                        <a:t>No DPD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微软雅黑"/>
                        </a:rPr>
                        <a:t>-28.674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微软雅黑"/>
                        </a:rPr>
                        <a:t>-21.287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微软雅黑"/>
                        </a:rPr>
                        <a:t>6.868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微软雅黑"/>
                        </a:rPr>
                        <a:t>Memory Polynomial DPD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微软雅黑"/>
                        </a:rPr>
                        <a:t>-33.889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微软雅黑"/>
                        </a:rPr>
                        <a:t>-27.984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22222"/>
                          </a:solidFill>
                          <a:latin typeface="微软雅黑"/>
                        </a:rPr>
                        <a:t>2.823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87A00"/>
                          </a:solidFill>
                          <a:latin typeface="微软雅黑"/>
                        </a:rPr>
                        <a:t>Neural Network DPD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87A00"/>
                          </a:solidFill>
                          <a:latin typeface="微软雅黑"/>
                        </a:rPr>
                        <a:t>-38.886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87A00"/>
                          </a:solidFill>
                          <a:latin typeface="微软雅黑"/>
                        </a:rPr>
                        <a:t>-33.423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E87A00"/>
                          </a:solidFill>
                          <a:latin typeface="微软雅黑"/>
                        </a:rPr>
                        <a:t>1.568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840480"/>
            <a:ext cx="10972800" cy="4846320"/>
          </a:xfrm>
          <a:prstGeom prst="rect">
            <a:avLst/>
          </a:prstGeom>
          <a:noFill/>
        </p:spPr>
        <p:txBody>
          <a:bodyPr wrap="square" lIns="76200" tIns="76200" rIns="76200" bIns="762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  <a:latin typeface="微软雅黑"/>
              </a:rPr>
              <a:t>• 三个指标都是越小越好；NN-DPD 相对 No DPD，ACPR 改善约 10 dB，EVM 从 6.87% 降到 1.57%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  <a:latin typeface="微软雅黑"/>
              </a:rPr>
              <a:t>• 频谱图的肩部高度与 ACPR 数值一一对应，图与表相互佐证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700">
                <a:solidFill>
                  <a:srgbClr val="222222"/>
                </a:solidFill>
                <a:latin typeface="微软雅黑"/>
              </a:rPr>
              <a:t>• 结论：对于 100 MHz OFDM 信号 + NXP Doherty PA，NN-DPD 优于传统记忆多项式 DPD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微软雅黑"/>
              </a:rPr>
              <a:t>NN-DPD 离线训练 · 汇报材料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821011" cy="4616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000" b="1" dirty="0" err="1">
                <a:solidFill>
                  <a:srgbClr val="1F4E79"/>
                </a:solidFill>
                <a:latin typeface="微软雅黑"/>
              </a:rPr>
              <a:t>汇报要点</a:t>
            </a:r>
            <a:r>
              <a:rPr sz="3000" b="1">
                <a:solidFill>
                  <a:srgbClr val="1F4E79"/>
                </a:solidFill>
                <a:latin typeface="微软雅黑"/>
              </a:rPr>
              <a:t> ·</a:t>
            </a:r>
            <a:endParaRPr sz="3000" b="1" dirty="0">
              <a:solidFill>
                <a:srgbClr val="1F4E79"/>
              </a:solidFill>
              <a:latin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222222"/>
                </a:solidFill>
                <a:latin typeface="微软雅黑"/>
              </a:rPr>
              <a:t>这张图展示了同一段 100 MHz OFDM 信号经过 PA 后，在三种情况（无 DPD / 记忆多项式 DPD / NN-DPD）下的功率谱，用于直观对比 DPD 对 PA 非线性导致的带外频谱再生的抑制能力；结果显示 NN-DPD 的带外泄漏最低，印证了 ACPR 由 −28.7 dB 改善到 −38.9 dB 的定量结论。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1274552" cy="3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  <a:latin typeface="微软雅黑"/>
              </a:rPr>
              <a:t>汇报完毕 · Q&amp;A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577A2CA-3CB3-7C4B-16F7-1E5CE41C0D7D}"/>
              </a:ext>
            </a:extLst>
          </p:cNvPr>
          <p:cNvSpPr txBox="1"/>
          <p:nvPr/>
        </p:nvSpPr>
        <p:spPr>
          <a:xfrm>
            <a:off x="2906486" y="1026160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800" b="1" dirty="0">
                <a:solidFill>
                  <a:srgbClr val="1F4E79"/>
                </a:solidFill>
                <a:latin typeface="微软雅黑"/>
              </a:rPr>
              <a:t>展开讲的顺序（建议）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D4CE119-6F99-A6C2-C9EB-B1566EB2E99C}"/>
              </a:ext>
            </a:extLst>
          </p:cNvPr>
          <p:cNvSpPr txBox="1"/>
          <p:nvPr/>
        </p:nvSpPr>
        <p:spPr>
          <a:xfrm>
            <a:off x="3047163" y="1543175"/>
            <a:ext cx="6094324" cy="3776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lang="en-US" altLang="zh-CN" sz="1800" dirty="0">
                <a:solidFill>
                  <a:srgbClr val="222222"/>
                </a:solidFill>
                <a:latin typeface="微软雅黑"/>
              </a:rPr>
              <a:t>• ① </a:t>
            </a:r>
            <a:r>
              <a:rPr lang="zh-CN" altLang="en-US" sz="1800" dirty="0">
                <a:solidFill>
                  <a:srgbClr val="222222"/>
                </a:solidFill>
                <a:latin typeface="微软雅黑"/>
              </a:rPr>
              <a:t>为什么做 </a:t>
            </a:r>
            <a:r>
              <a:rPr lang="en-US" altLang="zh-CN" sz="1800" dirty="0">
                <a:solidFill>
                  <a:srgbClr val="222222"/>
                </a:solidFill>
                <a:latin typeface="微软雅黑"/>
              </a:rPr>
              <a:t>DPD</a:t>
            </a:r>
            <a:r>
              <a:rPr lang="zh-CN" altLang="en-US" sz="1800" dirty="0">
                <a:solidFill>
                  <a:srgbClr val="222222"/>
                </a:solidFill>
                <a:latin typeface="微软雅黑"/>
              </a:rPr>
              <a:t>：</a:t>
            </a:r>
            <a:r>
              <a:rPr lang="en-US" altLang="zh-CN" sz="1800" dirty="0">
                <a:solidFill>
                  <a:srgbClr val="222222"/>
                </a:solidFill>
                <a:latin typeface="微软雅黑"/>
              </a:rPr>
              <a:t>PA </a:t>
            </a:r>
            <a:r>
              <a:rPr lang="zh-CN" altLang="en-US" sz="1800" dirty="0">
                <a:solidFill>
                  <a:srgbClr val="222222"/>
                </a:solidFill>
                <a:latin typeface="微软雅黑"/>
              </a:rPr>
              <a:t>非线性 → 带外频谱再生 → 不满足发射机规范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lang="en-US" altLang="zh-CN" sz="1800" dirty="0">
                <a:solidFill>
                  <a:srgbClr val="222222"/>
                </a:solidFill>
                <a:latin typeface="微软雅黑"/>
              </a:rPr>
              <a:t>• ② </a:t>
            </a:r>
            <a:r>
              <a:rPr lang="zh-CN" altLang="en-US" sz="1800" dirty="0">
                <a:solidFill>
                  <a:srgbClr val="222222"/>
                </a:solidFill>
                <a:latin typeface="微软雅黑"/>
              </a:rPr>
              <a:t>间接学习法：用 </a:t>
            </a:r>
            <a:r>
              <a:rPr lang="en-US" altLang="zh-CN" sz="1800" dirty="0">
                <a:solidFill>
                  <a:srgbClr val="222222"/>
                </a:solidFill>
                <a:latin typeface="微软雅黑"/>
              </a:rPr>
              <a:t>(u, x) </a:t>
            </a:r>
            <a:r>
              <a:rPr lang="zh-CN" altLang="en-US" sz="1800" dirty="0">
                <a:solidFill>
                  <a:srgbClr val="222222"/>
                </a:solidFill>
                <a:latin typeface="微软雅黑"/>
              </a:rPr>
              <a:t>训练 </a:t>
            </a:r>
            <a:r>
              <a:rPr lang="en-US" altLang="zh-CN" sz="1800" dirty="0">
                <a:solidFill>
                  <a:srgbClr val="222222"/>
                </a:solidFill>
                <a:latin typeface="微软雅黑"/>
              </a:rPr>
              <a:t>NN </a:t>
            </a:r>
            <a:r>
              <a:rPr lang="zh-CN" altLang="en-US" sz="1800" dirty="0">
                <a:solidFill>
                  <a:srgbClr val="222222"/>
                </a:solidFill>
                <a:latin typeface="微软雅黑"/>
              </a:rPr>
              <a:t>学 </a:t>
            </a:r>
            <a:r>
              <a:rPr lang="en-US" altLang="zh-CN" sz="1800" dirty="0">
                <a:solidFill>
                  <a:srgbClr val="222222"/>
                </a:solidFill>
                <a:latin typeface="微软雅黑"/>
              </a:rPr>
              <a:t>PA </a:t>
            </a:r>
            <a:r>
              <a:rPr lang="zh-CN" altLang="en-US" sz="1800" dirty="0">
                <a:solidFill>
                  <a:srgbClr val="222222"/>
                </a:solidFill>
                <a:latin typeface="微软雅黑"/>
              </a:rPr>
              <a:t>的逆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lang="en-US" altLang="zh-CN" sz="1800" dirty="0">
                <a:solidFill>
                  <a:srgbClr val="222222"/>
                </a:solidFill>
                <a:latin typeface="微软雅黑"/>
              </a:rPr>
              <a:t>• ③ ARVTDNN </a:t>
            </a:r>
            <a:r>
              <a:rPr lang="zh-CN" altLang="en-US" sz="1800" dirty="0">
                <a:solidFill>
                  <a:srgbClr val="222222"/>
                </a:solidFill>
                <a:latin typeface="微软雅黑"/>
              </a:rPr>
              <a:t>输入：</a:t>
            </a:r>
            <a:r>
              <a:rPr lang="en-US" altLang="zh-CN" sz="1800" dirty="0">
                <a:solidFill>
                  <a:srgbClr val="222222"/>
                </a:solidFill>
                <a:latin typeface="微软雅黑"/>
              </a:rPr>
              <a:t>I/Q </a:t>
            </a:r>
            <a:r>
              <a:rPr lang="zh-CN" altLang="en-US" sz="1800" dirty="0">
                <a:solidFill>
                  <a:srgbClr val="222222"/>
                </a:solidFill>
                <a:latin typeface="微软雅黑"/>
              </a:rPr>
              <a:t>延迟 </a:t>
            </a:r>
            <a:r>
              <a:rPr lang="en-US" altLang="zh-CN" sz="1800" dirty="0">
                <a:solidFill>
                  <a:srgbClr val="222222"/>
                </a:solidFill>
                <a:latin typeface="微软雅黑"/>
              </a:rPr>
              <a:t>+ </a:t>
            </a:r>
            <a:r>
              <a:rPr lang="zh-CN" altLang="en-US" sz="1800" dirty="0">
                <a:solidFill>
                  <a:srgbClr val="222222"/>
                </a:solidFill>
                <a:latin typeface="微软雅黑"/>
              </a:rPr>
              <a:t>幅度多阶项（记忆多项式先验）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lang="en-US" altLang="zh-CN" sz="1800" dirty="0">
                <a:solidFill>
                  <a:srgbClr val="222222"/>
                </a:solidFill>
                <a:latin typeface="微软雅黑"/>
              </a:rPr>
              <a:t>• ④ </a:t>
            </a:r>
            <a:r>
              <a:rPr lang="zh-CN" altLang="en-US" sz="1800" dirty="0">
                <a:solidFill>
                  <a:srgbClr val="222222"/>
                </a:solidFill>
                <a:latin typeface="微软雅黑"/>
              </a:rPr>
              <a:t>训练：</a:t>
            </a:r>
            <a:r>
              <a:rPr lang="en-US" altLang="zh-CN" sz="1800" dirty="0">
                <a:solidFill>
                  <a:srgbClr val="222222"/>
                </a:solidFill>
                <a:latin typeface="微软雅黑"/>
              </a:rPr>
              <a:t>Adam</a:t>
            </a:r>
            <a:r>
              <a:rPr lang="zh-CN" altLang="en-US" sz="1800" dirty="0">
                <a:solidFill>
                  <a:srgbClr val="222222"/>
                </a:solidFill>
                <a:latin typeface="微软雅黑"/>
              </a:rPr>
              <a:t> </a:t>
            </a:r>
            <a:r>
              <a:rPr lang="en-US" altLang="zh-CN" sz="1800" dirty="0">
                <a:solidFill>
                  <a:srgbClr val="222222"/>
                </a:solidFill>
                <a:latin typeface="微软雅黑"/>
              </a:rPr>
              <a:t>+ MSE</a:t>
            </a:r>
            <a:r>
              <a:rPr lang="zh-CN" altLang="en-US" sz="1800" dirty="0">
                <a:solidFill>
                  <a:srgbClr val="222222"/>
                </a:solidFill>
                <a:latin typeface="微软雅黑"/>
              </a:rPr>
              <a:t>，离线监督学习，早停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lang="en-US" altLang="zh-CN" sz="1800" dirty="0">
                <a:solidFill>
                  <a:srgbClr val="222222"/>
                </a:solidFill>
                <a:latin typeface="微软雅黑"/>
              </a:rPr>
              <a:t>• ⑤ </a:t>
            </a:r>
            <a:r>
              <a:rPr lang="zh-CN" altLang="en-US" sz="1800" dirty="0">
                <a:solidFill>
                  <a:srgbClr val="222222"/>
                </a:solidFill>
                <a:latin typeface="微软雅黑"/>
              </a:rPr>
              <a:t>验证：同一测试信号走三条支路 → 测 </a:t>
            </a:r>
            <a:r>
              <a:rPr lang="en-US" altLang="zh-CN" sz="1800" dirty="0">
                <a:solidFill>
                  <a:srgbClr val="222222"/>
                </a:solidFill>
                <a:latin typeface="微软雅黑"/>
              </a:rPr>
              <a:t>ACPR/NMSE/EVM + </a:t>
            </a:r>
            <a:r>
              <a:rPr lang="zh-CN" altLang="en-US" sz="1800" dirty="0">
                <a:solidFill>
                  <a:srgbClr val="222222"/>
                </a:solidFill>
                <a:latin typeface="微软雅黑"/>
              </a:rPr>
              <a:t>画频谱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lang="en-US" altLang="zh-CN" sz="1800" dirty="0">
                <a:solidFill>
                  <a:srgbClr val="222222"/>
                </a:solidFill>
                <a:latin typeface="微软雅黑"/>
              </a:rPr>
              <a:t>• ⑥ </a:t>
            </a:r>
            <a:r>
              <a:rPr lang="zh-CN" altLang="en-US" sz="1800" dirty="0">
                <a:solidFill>
                  <a:srgbClr val="222222"/>
                </a:solidFill>
                <a:latin typeface="微软雅黑"/>
              </a:rPr>
              <a:t>结论：图（定性） </a:t>
            </a:r>
            <a:r>
              <a:rPr lang="en-US" altLang="zh-CN" sz="1800" dirty="0">
                <a:solidFill>
                  <a:srgbClr val="222222"/>
                </a:solidFill>
                <a:latin typeface="微软雅黑"/>
              </a:rPr>
              <a:t>+ </a:t>
            </a:r>
            <a:r>
              <a:rPr lang="zh-CN" altLang="en-US" sz="1800" dirty="0">
                <a:solidFill>
                  <a:srgbClr val="222222"/>
                </a:solidFill>
                <a:latin typeface="微软雅黑"/>
              </a:rPr>
              <a:t>表（定量）共同说明 </a:t>
            </a:r>
            <a:r>
              <a:rPr lang="en-US" altLang="zh-CN" sz="1800" dirty="0">
                <a:solidFill>
                  <a:srgbClr val="222222"/>
                </a:solidFill>
                <a:latin typeface="微软雅黑"/>
              </a:rPr>
              <a:t>NN-DPD </a:t>
            </a:r>
            <a:r>
              <a:rPr lang="zh-CN" altLang="en-US" sz="1800" dirty="0">
                <a:solidFill>
                  <a:srgbClr val="222222"/>
                </a:solidFill>
                <a:latin typeface="微软雅黑"/>
              </a:rPr>
              <a:t>的优势</a:t>
            </a:r>
          </a:p>
        </p:txBody>
      </p:sp>
    </p:spTree>
    <p:extLst>
      <p:ext uri="{BB962C8B-B14F-4D97-AF65-F5344CB8AC3E}">
        <p14:creationId xmlns:p14="http://schemas.microsoft.com/office/powerpoint/2010/main" val="3641907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1050</Words>
  <Application>Microsoft Office PowerPoint</Application>
  <PresentationFormat>宽屏</PresentationFormat>
  <Paragraphs>122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等线</vt:lpstr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Fubuki Sakura</cp:lastModifiedBy>
  <cp:revision>4</cp:revision>
  <dcterms:created xsi:type="dcterms:W3CDTF">2013-01-27T09:14:16Z</dcterms:created>
  <dcterms:modified xsi:type="dcterms:W3CDTF">2026-05-11T14:35:53Z</dcterms:modified>
  <cp:category/>
</cp:coreProperties>
</file>